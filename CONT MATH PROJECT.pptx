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8"/>
    <p:restoredTop sz="94671"/>
  </p:normalViewPr>
  <p:slideViewPr>
    <p:cSldViewPr snapToGrid="0">
      <p:cViewPr varScale="1">
        <p:scale>
          <a:sx n="127" d="100"/>
          <a:sy n="127" d="100"/>
        </p:scale>
        <p:origin x="16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0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0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63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5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2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7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4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5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.amplify.com/activity/69dadb530bf728ee5efa0703?utm_campaign=share&amp;utm_content=activity" TargetMode="External"/><Relationship Id="rId2" Type="http://schemas.openxmlformats.org/officeDocument/2006/relationships/hyperlink" Target="https://student.amplify.com/join/HZYCQ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1C9781-1BFB-4400-A1AC-1BEAE672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B32CAD-5F08-4EE4-B80D-A9E62A650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67818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931AE-2EF2-7A41-62C2-737A708D4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277" y="1371599"/>
            <a:ext cx="6134848" cy="23604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Local Linearity!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Calculus 1: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intro to derivatives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DE9C9-37B7-4032-F6F8-63F78038D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5410200" cy="13716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David Gonzalez Sua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FE930-2920-2B92-7189-514A5C79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60" r="29934"/>
          <a:stretch>
            <a:fillRect/>
          </a:stretch>
        </p:blipFill>
        <p:spPr>
          <a:xfrm>
            <a:off x="8153401" y="10"/>
            <a:ext cx="40386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2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BC959F-CAB6-4E23-81DE-E0BBF2B7E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4DEED-5E0F-4E41-A445-58C14864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767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5B76A-4A09-CEDA-06E5-6F4E7D99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1" y="1395524"/>
            <a:ext cx="315468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chemeClr val="bg2"/>
                </a:solidFill>
              </a:rPr>
              <a:t>Learning Targets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0" y="685800"/>
            <a:ext cx="67437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480E-D634-0BF7-6E92-0EFD1A276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963" y="1270591"/>
            <a:ext cx="5631357" cy="4364666"/>
          </a:xfrm>
        </p:spPr>
        <p:txBody>
          <a:bodyPr anchor="ctr">
            <a:noAutofit/>
          </a:bodyPr>
          <a:lstStyle/>
          <a:p>
            <a:r>
              <a:rPr lang="en-US" sz="2800" dirty="0"/>
              <a:t>Students can identify whether a function is locally linear at a given point by zooming in</a:t>
            </a:r>
          </a:p>
          <a:p>
            <a:r>
              <a:rPr lang="en-US" sz="2800" dirty="0"/>
              <a:t>Students can estimate the slope of a function at a point graphically</a:t>
            </a:r>
          </a:p>
          <a:p>
            <a:r>
              <a:rPr lang="en-US" sz="2800" dirty="0"/>
              <a:t>Students can connect the idea of local linearity to the formal definition of the derivative</a:t>
            </a:r>
          </a:p>
        </p:txBody>
      </p:sp>
    </p:spTree>
    <p:extLst>
      <p:ext uri="{BB962C8B-B14F-4D97-AF65-F5344CB8AC3E}">
        <p14:creationId xmlns:p14="http://schemas.microsoft.com/office/powerpoint/2010/main" val="286139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B8D9D-F341-BD6F-510C-C9C3C08C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010097"/>
            <a:ext cx="9486901" cy="1010088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The main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9FC31-2864-B3F1-66C9-EAFD66E1C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9473" y="2344482"/>
            <a:ext cx="6931152" cy="499728"/>
          </a:xfrm>
        </p:spPr>
        <p:txBody>
          <a:bodyPr>
            <a:normAutofit/>
          </a:bodyPr>
          <a:lstStyle/>
          <a:p>
            <a:r>
              <a:rPr lang="en-US" dirty="0"/>
              <a:t>What happens when you zoom in on a smooth curve?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047A5C-5847-5A1B-4D1E-789F6CB36EC5}"/>
              </a:ext>
            </a:extLst>
          </p:cNvPr>
          <p:cNvSpPr txBox="1">
            <a:spLocks/>
          </p:cNvSpPr>
          <p:nvPr/>
        </p:nvSpPr>
        <p:spPr>
          <a:xfrm>
            <a:off x="8053196" y="3530010"/>
            <a:ext cx="3669412" cy="15631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Student.amplify.com</a:t>
            </a:r>
            <a:r>
              <a:rPr lang="en-US" dirty="0"/>
              <a:t>/join</a:t>
            </a:r>
          </a:p>
          <a:p>
            <a:r>
              <a:rPr lang="en-US" dirty="0"/>
              <a:t>JE FR GU</a:t>
            </a:r>
          </a:p>
          <a:p>
            <a:r>
              <a:rPr lang="en-US" dirty="0">
                <a:hlinkClick r:id="rId2"/>
              </a:rPr>
              <a:t>https://student.amplify.com/join/</a:t>
            </a:r>
            <a:r>
              <a:rPr lang="en-US" dirty="0"/>
              <a:t>JEFRGU 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FD49EA-EF77-ECD3-44E6-32845C85A318}"/>
              </a:ext>
            </a:extLst>
          </p:cNvPr>
          <p:cNvSpPr txBox="1">
            <a:spLocks/>
          </p:cNvSpPr>
          <p:nvPr/>
        </p:nvSpPr>
        <p:spPr>
          <a:xfrm>
            <a:off x="685800" y="3530010"/>
            <a:ext cx="3251453" cy="15631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Teacher Link:</a:t>
            </a:r>
          </a:p>
          <a:p>
            <a:r>
              <a:rPr lang="en-US" dirty="0">
                <a:hlinkClick r:id="rId3"/>
              </a:rPr>
              <a:t>https://classroom.amplify.com/activity/69dadb530bf728ee5efa0703?utm_campaign=share&amp;utm_content=activity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3B0FB4-71A1-4734-A6E8-95A7A4564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805" y="3092496"/>
            <a:ext cx="3843188" cy="28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2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0842E-FE4B-9ECC-A4ED-CF632BFC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AE284-7F6C-56C0-C31D-F37AF02F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010097"/>
            <a:ext cx="9486901" cy="1010088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Activity “SOLUTION KEY”: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55FD5-FD4E-11BE-5241-160D07D0D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06257"/>
            <a:ext cx="9486901" cy="354064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Students try it first.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Slide 1: Cool graph!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Slide 2: Students should notice that there is local linearity at every point. Noticing that it approaches the tangent line is a plus!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Slide 3: Students should notice that the slope of the line is never negative, and connect that to the shape of </a:t>
            </a:r>
            <a:r>
              <a:rPr lang="en-US" sz="2000" dirty="0" err="1"/>
              <a:t>e^x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Slide 4: Students should notice that it is impossible to get a straight line at x=0 for |x| regardless of zoom level.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Slide 5: Students can test further if they like.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Then a teacher should go through the slides with the tangent line on to show that the slopes approach it. Ideally, this lesson would be directly followed by a lesson on derivatives.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444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88BE379-4785-4815-8FC9-A24E80D37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62F85E-7856-415B-BA26-EFA2D2EF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94DEED-5E0F-4E41-A445-58C14864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3390900" cy="411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8E03D-3769-3788-80A2-ED51277B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526" y="1695893"/>
            <a:ext cx="2732567" cy="3487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dirty="0"/>
              <a:t>Connections to math-534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D82D28-23DB-6A14-8348-277896F1AEB3}"/>
              </a:ext>
            </a:extLst>
          </p:cNvPr>
          <p:cNvSpPr txBox="1">
            <a:spLocks/>
          </p:cNvSpPr>
          <p:nvPr/>
        </p:nvSpPr>
        <p:spPr>
          <a:xfrm>
            <a:off x="6742265" y="207946"/>
            <a:ext cx="4770120" cy="6442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dirty="0"/>
              <a:t>If you zoom in on the graph of a function with equal zoom factors in both directions, the graph eventually looks like a line. This property is called Local Linearity. The slope of this line is the number called the derivative. If the graph never appears linear, then no derivative exists at that point.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/>
            <a:r>
              <a:rPr lang="en-US" dirty="0"/>
              <a:t>Local Linearity is the graphical manifestation of differentiability!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835122-0FE3-6AC1-19D5-BF74AABE2934}"/>
                  </a:ext>
                </a:extLst>
              </p:cNvPr>
              <p:cNvSpPr txBox="1"/>
              <p:nvPr/>
            </p:nvSpPr>
            <p:spPr>
              <a:xfrm>
                <a:off x="6525768" y="3673297"/>
                <a:ext cx="5236463" cy="9557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835122-0FE3-6AC1-19D5-BF74AABE2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768" y="3673297"/>
                <a:ext cx="5236463" cy="955711"/>
              </a:xfrm>
              <a:prstGeom prst="rect">
                <a:avLst/>
              </a:prstGeom>
              <a:blipFill>
                <a:blip r:embed="rId2"/>
                <a:stretch>
                  <a:fillRect l="-1214" t="-1316" r="-1214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71AB845-F266-23E1-F1D7-0EFE71DD4C5B}"/>
              </a:ext>
            </a:extLst>
          </p:cNvPr>
          <p:cNvGrpSpPr/>
          <p:nvPr/>
        </p:nvGrpSpPr>
        <p:grpSpPr>
          <a:xfrm>
            <a:off x="6026948" y="3429000"/>
            <a:ext cx="6326756" cy="3260500"/>
            <a:chOff x="2548217" y="4428459"/>
            <a:chExt cx="3390900" cy="34874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F37B19-5747-B784-4975-9ED698927F08}"/>
                </a:ext>
              </a:extLst>
            </p:cNvPr>
            <p:cNvSpPr/>
            <p:nvPr/>
          </p:nvSpPr>
          <p:spPr>
            <a:xfrm>
              <a:off x="2699809" y="5823217"/>
              <a:ext cx="3087716" cy="6979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60C04050-B550-388A-264A-88B9167CE58D}"/>
                </a:ext>
              </a:extLst>
            </p:cNvPr>
            <p:cNvSpPr txBox="1">
              <a:spLocks/>
            </p:cNvSpPr>
            <p:nvPr/>
          </p:nvSpPr>
          <p:spPr>
            <a:xfrm>
              <a:off x="2548217" y="4428459"/>
              <a:ext cx="3390900" cy="34874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cap="all" spc="300" baseline="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000" dirty="0"/>
                <a:t>Limit definition of a derivative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623077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4387</TotalTime>
  <Words>344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Gill Sans MT</vt:lpstr>
      <vt:lpstr>Goudy Old Style</vt:lpstr>
      <vt:lpstr>ClassicFrameVTI</vt:lpstr>
      <vt:lpstr>Local Linearity! Calculus 1: intro to derivatives</vt:lpstr>
      <vt:lpstr>Learning Targets</vt:lpstr>
      <vt:lpstr>The main idea:</vt:lpstr>
      <vt:lpstr>Activity “SOLUTION KEY”:</vt:lpstr>
      <vt:lpstr>Connections to math-534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Gonzalez, David</dc:creator>
  <cp:lastModifiedBy>Gonzalez, David</cp:lastModifiedBy>
  <cp:revision>6</cp:revision>
  <dcterms:created xsi:type="dcterms:W3CDTF">2026-04-02T16:17:06Z</dcterms:created>
  <dcterms:modified xsi:type="dcterms:W3CDTF">2026-04-14T23:19:13Z</dcterms:modified>
</cp:coreProperties>
</file>