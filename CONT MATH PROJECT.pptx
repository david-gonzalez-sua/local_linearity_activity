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25" r:id="rId1"/>
  </p:sldMasterIdLst>
  <p:sldIdLst>
    <p:sldId id="256" r:id="rId2"/>
    <p:sldId id="257" r:id="rId3"/>
    <p:sldId id="258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98"/>
    <p:restoredTop sz="94671"/>
  </p:normalViewPr>
  <p:slideViewPr>
    <p:cSldViewPr snapToGrid="0">
      <p:cViewPr varScale="1">
        <p:scale>
          <a:sx n="70" d="100"/>
          <a:sy n="70" d="100"/>
        </p:scale>
        <p:origin x="216" y="17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7C3F-0FB2-4B2E-BA6A-FEEEFF1AF7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57400" y="685801"/>
            <a:ext cx="8115300" cy="3046228"/>
          </a:xfrm>
        </p:spPr>
        <p:txBody>
          <a:bodyPr anchor="b">
            <a:normAutofit/>
          </a:bodyPr>
          <a:lstStyle>
            <a:lvl1pPr algn="ctr">
              <a:defRPr sz="36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583AE9-1CC1-4572-A6E5-E97F80E476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7400" y="4114800"/>
            <a:ext cx="8115300" cy="2057400"/>
          </a:xfrm>
        </p:spPr>
        <p:txBody>
          <a:bodyPr/>
          <a:lstStyle>
            <a:lvl1pPr marL="0" indent="0" algn="ctr">
              <a:buNone/>
              <a:defRPr sz="24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4DE7C-68AB-403D-B9D8-7398C292C6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EA57E-7C1A-457B-A4CD-5DCEB057B502}" type="datetime1">
              <a:rPr lang="en-US" smtClean="0"/>
              <a:t>4/11/26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003E50-6613-4D86-AA22-43B14E7279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069AB5-A56D-471F-9236-EFA981E2E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22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9B412-EBAB-4569-B3D9-6B346BF83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486900" cy="1371600"/>
          </a:xfrm>
        </p:spPr>
        <p:txBody>
          <a:bodyPr>
            <a:normAutofit/>
          </a:bodyPr>
          <a:lstStyle>
            <a:lvl1pPr algn="l">
              <a:defRPr sz="32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7C8AE-B0F4-404F-BCAD-A14C18E50D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A9CAD-DAFB-4DE3-9C41-7FD03EA8D8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1AF2CE-4F37-411C-A3EE-BBBE223265BF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CE3137-8136-46C5-AC2F-49E5F55E4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1AB6EF-A0B1-4706-AE44-253A6B182D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00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02F68-BF19-468D-B422-54B6D189F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77407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CBF7D7-84D4-4A39-B44E-9B029EEB1F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41624"/>
            <a:ext cx="10515600" cy="1448026"/>
          </a:xfrm>
        </p:spPr>
        <p:txBody>
          <a:bodyPr/>
          <a:lstStyle>
            <a:lvl1pPr marL="0" indent="0" algn="ctr">
              <a:buNone/>
              <a:defRPr sz="2400" i="1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E29709-D243-41E8-89FA-62FA7AEB5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6083D4-708C-4BB5-B4FD-30CE9FA12FD5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B99C0-DC2A-4133-A10D-D43A1E05B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22EFD-A17E-47F5-8AC9-EFD6D813DB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7051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C668D-BFBE-4765-A294-8303931B5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6071" y="566278"/>
            <a:ext cx="9512429" cy="965458"/>
          </a:xfrm>
        </p:spPr>
        <p:txBody>
          <a:bodyPr/>
          <a:lstStyle>
            <a:lvl1pPr algn="ctr">
              <a:defRPr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3C212-F55F-4D0D-BFA7-F00A33CAA1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09758" y="2057400"/>
            <a:ext cx="5031521" cy="41195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54BDD7-2575-4E82-887D-DCAF9EB159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65408" y="2057401"/>
            <a:ext cx="5016834" cy="41195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CAECC8-3C3A-4A5D-AB7A-1F99E5023D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D239B2-65BC-4C2A-A62B-3EABFE9590E4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47609B-ACA4-4323-9340-C7DB166D7A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09EA3-C5C7-4AC6-956A-DB9A3B4F3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463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0CDE0-7431-4F05-AA47-F10EB46C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276552" cy="1149350"/>
          </a:xfrm>
        </p:spPr>
        <p:txBody>
          <a:bodyPr>
            <a:normAutofit/>
          </a:bodyPr>
          <a:lstStyle>
            <a:lvl1pPr algn="ctr">
              <a:defRPr sz="32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D9FFA7-D3EA-4CB8-A471-94235AD625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 i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5360D2-88E8-43C8-92D1-67AB23BBE2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C768F6-20A1-47A1-90FE-903135EEFD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D555EC1-268F-4324-A003-3608AA0D84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C55C8E4-FCB8-4E06-9C43-0ACD949A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E05F5A-E4A3-476F-A89E-C2B73F2431E4}" type="datetime1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B01C005-C973-4D82-942A-334F1D431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AFB6186-6570-4DE8-8603-70B0A51DF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398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5ADD3-88C8-4B01-8CC6-808C0E416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634E6A-1390-4101-B78E-7592313407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761515-4A26-4F31-9F61-5A10B1FABBFC}" type="datetime1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BC7B90-4C99-4653-872A-3572A02DA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B03516-4D31-49D2-9488-33C734A7A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156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0D8488-CF25-431B-A87A-AAF141BD0B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75DC65-7D1F-4BAB-9695-F7E734143E14}" type="datetime1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2F58E5-C92D-4C64-B867-0576B1EA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216797-ABEC-4FE0-AFDE-36107B9671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0236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8F2B0-990D-418E-9D10-2464E9866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881131-AFFD-4339-9F30-D408B5105C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A7C47F4-7968-4698-8BD3-A583099FAA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BC6F-3996-4B2B-B8F2-DD3A82CCF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24077-BD55-4036-8E92-6558FDF3B653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832E66-581A-4CF2-A40A-4E24FAAC4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3B1C89-C625-4618-81A2-FB34E4DA0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8790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1486F-443A-4F2D-AB1F-8B1F4C4DE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3A21213-E7FB-406A-B8CD-735AAC7AD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F41A03-500E-49F7-8D99-A1EAFE4D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91523D-69E9-4EAE-A610-B3A237B75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4225F2-7107-4609-BCC2-77C63064A5E8}" type="datetime1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DB852F-4134-4AB5-BA87-483B1E1AD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34C5CB-918E-4A09-8222-D36E37B63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5405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02744C-12E6-455B-B646-2EA92DE0E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D71C4D-C062-4EEE-9A9A-31ADCC5C87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4DC97-C26E-407A-9E29-68C52D547B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789749-A4CD-447F-8298-2B7988C91CEA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E9353-B771-47FF-975E-72337414E0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5A858-B8B2-4364-A7D0-B2E8FAE0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551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A6BABE-D80C-4F54-A03C-E1F9EBCA832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285191-EF5B-48BE-AB5D-B7BA4C3D09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FA387A-1231-4FE3-8574-D4331A3432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444D3-C0BA-4587-A56C-581AB9F841BE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F21559-4901-4AD3-ABE7-DF0235457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F6C18E-B751-4E7B-9CD8-1BF44DAB8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E28480-1C08-4458-AD97-0283E6FFD09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60455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3AA0686-7BAC-45C0-BA30-0D0CBCE5C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9486900" cy="1371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4202DE-82CD-407D-8C68-174B0CBB57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599" y="2254103"/>
            <a:ext cx="9486901" cy="39180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54AC9D-6E1B-46D3-959F-A068A1EDBDB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5400000">
            <a:off x="9800022" y="3223751"/>
            <a:ext cx="4114801" cy="410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300" baseline="0">
                <a:solidFill>
                  <a:schemeClr val="tx2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fld id="{D3FE42E8-8B57-452D-A122-4DCE9AC771EF}" type="datetime1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FC0015-9EFB-40F8-BC00-AC2483D609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5400000">
            <a:off x="-1708136" y="3223750"/>
            <a:ext cx="4114800" cy="4105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300" baseline="0">
                <a:solidFill>
                  <a:schemeClr val="tx2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72C732-0E3E-49E0-A72E-D4C08CB445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6340" y="6356350"/>
            <a:ext cx="8718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spc="300">
                <a:solidFill>
                  <a:schemeClr val="tx2">
                    <a:lumMod val="75000"/>
                    <a:lumOff val="25000"/>
                  </a:schemeClr>
                </a:solidFill>
                <a:latin typeface="+mn-lt"/>
              </a:defRPr>
            </a:lvl1pPr>
          </a:lstStyle>
          <a:p>
            <a:fld id="{F8E28480-1C08-4458-AD97-0283E6FFD09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75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24" r:id="rId6"/>
    <p:sldLayoutId id="2147483719" r:id="rId7"/>
    <p:sldLayoutId id="2147483720" r:id="rId8"/>
    <p:sldLayoutId id="2147483721" r:id="rId9"/>
    <p:sldLayoutId id="2147483723" r:id="rId10"/>
    <p:sldLayoutId id="214748372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SzPct val="70000"/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+mj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j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j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SzPct val="70000"/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tudent.amplify.com/join/HZYCQ3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lassroom.amplify.com/activity/69dadb530bf728ee5efa0703?utm_campaign=share&amp;utm_content=activity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91C9781-1BFB-4400-A1AC-1BEAE67287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AB32CAD-5F08-4EE4-B80D-A9E62A650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6781800" cy="54864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F931AE-2EF2-7A41-62C2-737A708D4F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9277" y="1371599"/>
            <a:ext cx="6134848" cy="236042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2"/>
                </a:solidFill>
              </a:rPr>
              <a:t>Local Linearity!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Calculus 1:</a:t>
            </a:r>
            <a:br>
              <a:rPr lang="en-US" dirty="0">
                <a:solidFill>
                  <a:schemeClr val="bg2"/>
                </a:solidFill>
              </a:rPr>
            </a:br>
            <a:r>
              <a:rPr lang="en-US" dirty="0">
                <a:solidFill>
                  <a:schemeClr val="bg2"/>
                </a:solidFill>
              </a:rPr>
              <a:t>intro to derivatives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CDE9C9-37B7-4032-F6F8-63F78038D3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4114800"/>
            <a:ext cx="5410200" cy="137160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David Gonzalez Sua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9FE930-2920-2B92-7189-514A5C7927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960" r="29934"/>
          <a:stretch>
            <a:fillRect/>
          </a:stretch>
        </p:blipFill>
        <p:spPr>
          <a:xfrm>
            <a:off x="8153401" y="10"/>
            <a:ext cx="403860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5257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BBC959F-CAB6-4E23-81DE-E0BBF2B7E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A94DEED-5E0F-4E41-A445-58C14864C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076700" cy="68580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875B76A-4A09-CEDA-06E5-6F4E7D996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11" y="1395524"/>
            <a:ext cx="3154680" cy="4114800"/>
          </a:xfrm>
        </p:spPr>
        <p:txBody>
          <a:bodyPr anchor="ctr">
            <a:normAutofit/>
          </a:bodyPr>
          <a:lstStyle/>
          <a:p>
            <a:pPr algn="ctr"/>
            <a:r>
              <a:rPr lang="en-US" sz="4000" dirty="0">
                <a:solidFill>
                  <a:schemeClr val="bg2"/>
                </a:solidFill>
              </a:rPr>
              <a:t>Learning Targets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1FEFA6-7D4F-4746-AE64-D4D52FE7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62500" y="685800"/>
            <a:ext cx="6743700" cy="5486400"/>
          </a:xfrm>
          <a:prstGeom prst="rect">
            <a:avLst/>
          </a:prstGeom>
          <a:solidFill>
            <a:schemeClr val="tx2">
              <a:lumMod val="75000"/>
              <a:lumOff val="2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1E480E-D634-0BF7-6E92-0EFD1A2762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963" y="1270591"/>
            <a:ext cx="5631357" cy="4364666"/>
          </a:xfrm>
        </p:spPr>
        <p:txBody>
          <a:bodyPr anchor="ctr">
            <a:noAutofit/>
          </a:bodyPr>
          <a:lstStyle/>
          <a:p>
            <a:r>
              <a:rPr lang="en-US" sz="2800" dirty="0"/>
              <a:t>Students can identify whether a function is locally linear at a given point by zooming in</a:t>
            </a:r>
          </a:p>
          <a:p>
            <a:r>
              <a:rPr lang="en-US" sz="2800" dirty="0"/>
              <a:t>Students can estimate the slope of a function at a point graphically</a:t>
            </a:r>
          </a:p>
          <a:p>
            <a:r>
              <a:rPr lang="en-US" sz="2800" dirty="0"/>
              <a:t>Students can connect the idea of local linearity to the formal definition of the derivative</a:t>
            </a:r>
          </a:p>
        </p:txBody>
      </p:sp>
    </p:spTree>
    <p:extLst>
      <p:ext uri="{BB962C8B-B14F-4D97-AF65-F5344CB8AC3E}">
        <p14:creationId xmlns:p14="http://schemas.microsoft.com/office/powerpoint/2010/main" val="28613994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EFF9146B-4CCD-4CDB-AB9C-458005307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1FEFA6-7D4F-4746-AE64-D4D52FE7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F8DA3CF-9D4B-403A-9AD4-BB177DAB6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9B8D9D-F341-BD6F-510C-C9C3C08C8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1010097"/>
            <a:ext cx="9486901" cy="1010088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The main idea: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9FC31-2864-B3F1-66C9-EAFD66E1C0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49473" y="2344482"/>
            <a:ext cx="6931152" cy="499728"/>
          </a:xfrm>
        </p:spPr>
        <p:txBody>
          <a:bodyPr>
            <a:normAutofit/>
          </a:bodyPr>
          <a:lstStyle/>
          <a:p>
            <a:r>
              <a:rPr lang="en-US" dirty="0"/>
              <a:t>What happens when you zoom in on a smooth curve?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111EE49-0EAE-BD44-D14C-07D1A71A4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253" y="3316057"/>
            <a:ext cx="4355592" cy="3495500"/>
          </a:xfrm>
          <a:prstGeom prst="rect">
            <a:avLst/>
          </a:prstGeom>
        </p:spPr>
      </p:pic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7047A5C-5847-5A1B-4D1E-789F6CB36EC5}"/>
              </a:ext>
            </a:extLst>
          </p:cNvPr>
          <p:cNvSpPr txBox="1">
            <a:spLocks/>
          </p:cNvSpPr>
          <p:nvPr/>
        </p:nvSpPr>
        <p:spPr>
          <a:xfrm>
            <a:off x="8053196" y="3530010"/>
            <a:ext cx="3669412" cy="156319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Student.amplify.com</a:t>
            </a:r>
            <a:r>
              <a:rPr lang="en-US" dirty="0"/>
              <a:t>/join</a:t>
            </a:r>
          </a:p>
          <a:p>
            <a:r>
              <a:rPr lang="en-US" dirty="0"/>
              <a:t>HZ YC Q3</a:t>
            </a:r>
          </a:p>
          <a:p>
            <a:r>
              <a:rPr lang="en-US" dirty="0">
                <a:hlinkClick r:id="rId3"/>
              </a:rPr>
              <a:t>https://student.amplify.com/join/HZYCQ3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EFD49EA-EF77-ECD3-44E6-32845C85A318}"/>
              </a:ext>
            </a:extLst>
          </p:cNvPr>
          <p:cNvSpPr txBox="1">
            <a:spLocks/>
          </p:cNvSpPr>
          <p:nvPr/>
        </p:nvSpPr>
        <p:spPr>
          <a:xfrm>
            <a:off x="685800" y="3530010"/>
            <a:ext cx="3251453" cy="1563195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Teacher Link:</a:t>
            </a:r>
          </a:p>
          <a:p>
            <a:r>
              <a:rPr lang="en-US" dirty="0">
                <a:hlinkClick r:id="rId4"/>
              </a:rPr>
              <a:t>https://classroom.amplify.com/activity/69dadb530bf728ee5efa0703?utm_campaign=share&amp;utm_content=activity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21278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40842E-FE4B-9ECC-A4ED-CF632BFCC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EFF9146B-4CCD-4CDB-AB9C-458005307E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E1FEFA6-7D4F-4746-AE64-D4D52FE7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BF8DA3CF-9D4B-403A-9AD4-BB177DAB6C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85800" y="685800"/>
            <a:ext cx="10820400" cy="54864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8EAE284-7F6C-56C0-C31D-F37AF02F3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1010097"/>
            <a:ext cx="9486901" cy="1010088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Activity “SOLUTION KEY”: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755FD5-FD4E-11BE-5241-160D07D0DE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06257"/>
            <a:ext cx="9486901" cy="3540642"/>
          </a:xfrm>
        </p:spPr>
        <p:txBody>
          <a:bodyPr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Students try it first.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Slide 1: Cool graph!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Slide 2: Students should notice that there is local linearity at every point. Noticing that it approaches the tangent line is a plus!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Slide 3: Students should notice that the slope of the line is never negative, and connect that to the shape of </a:t>
            </a:r>
            <a:r>
              <a:rPr lang="en-US" sz="2000" dirty="0" err="1"/>
              <a:t>e^x</a:t>
            </a:r>
            <a:endParaRPr lang="en-US" sz="2000" dirty="0"/>
          </a:p>
          <a:p>
            <a:pPr>
              <a:lnSpc>
                <a:spcPct val="90000"/>
              </a:lnSpc>
            </a:pPr>
            <a:r>
              <a:rPr lang="en-US" sz="2000" dirty="0"/>
              <a:t>Slide 4: Students should notice that it is impossible to get a straight line at x=0 for |x| regardless of zoom level.</a:t>
            </a:r>
          </a:p>
          <a:p>
            <a:pPr>
              <a:lnSpc>
                <a:spcPct val="90000"/>
              </a:lnSpc>
            </a:pPr>
            <a:r>
              <a:rPr lang="en-US" sz="2000" dirty="0"/>
              <a:t>Slide 5: Students can test further if they like.</a:t>
            </a:r>
          </a:p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Then a teacher should go through the slides with the tangent line on to show that the slopes approach it. Ideally, this lesson would be directly followed by a lesson on derivatives.</a:t>
            </a:r>
          </a:p>
          <a:p>
            <a:pPr marL="0" indent="0">
              <a:lnSpc>
                <a:spcPct val="9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5244405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88BE379-4785-4815-8FC9-A24E80D37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62F85E-7856-415B-BA26-EFA2D2EF0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6096000" cy="6857999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7A94DEED-5E0F-4E41-A445-58C14864C3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71600" y="1371600"/>
            <a:ext cx="3390900" cy="41148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78E03D-3769-3788-80A2-ED51277B2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06526" y="1695893"/>
            <a:ext cx="2732567" cy="348748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2200" dirty="0"/>
              <a:t>Connections to math-534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E1FEFA6-7D4F-4746-AE64-D4D52FE76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tx2">
              <a:lumMod val="75000"/>
              <a:lumOff val="25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ED82D28-23DB-6A14-8348-277896F1AEB3}"/>
              </a:ext>
            </a:extLst>
          </p:cNvPr>
          <p:cNvSpPr txBox="1">
            <a:spLocks/>
          </p:cNvSpPr>
          <p:nvPr/>
        </p:nvSpPr>
        <p:spPr>
          <a:xfrm>
            <a:off x="6742265" y="207946"/>
            <a:ext cx="4770120" cy="64421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SzPct val="70000"/>
              <a:buFont typeface="Arial" panose="020B0604020202020204" pitchFamily="34" charset="0"/>
              <a:buChar char="•"/>
              <a:defRPr sz="24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20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8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SzPct val="70000"/>
              <a:buFont typeface="Arial" panose="020B0604020202020204" pitchFamily="34" charset="0"/>
              <a:buChar char="•"/>
              <a:defRPr sz="1600" kern="1200">
                <a:solidFill>
                  <a:schemeClr val="tx2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/>
            <a:r>
              <a:rPr lang="en-US" dirty="0"/>
              <a:t>If you zoom in on the graph of a function with equal zoom factors in both directions, the graph eventually looks like a line. This property is called Local Linearity. The slope of this line is the number called the derivative. If the graph never appears linear, then no derivative exists at that point.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/>
            <a:r>
              <a:rPr lang="en-US" dirty="0"/>
              <a:t>Local Linearity is the graphical manifestation of differentiability!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835122-0FE3-6AC1-19D5-BF74AABE2934}"/>
                  </a:ext>
                </a:extLst>
              </p:cNvPr>
              <p:cNvSpPr txBox="1"/>
              <p:nvPr/>
            </p:nvSpPr>
            <p:spPr>
              <a:xfrm>
                <a:off x="6525768" y="3673297"/>
                <a:ext cx="5236463" cy="955711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→0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3200" b="0" i="1" smtClean="0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</m:d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den>
                          </m:f>
                        </m:e>
                      </m:func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1835122-0FE3-6AC1-19D5-BF74AABE2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25768" y="3673297"/>
                <a:ext cx="5236463" cy="955711"/>
              </a:xfrm>
              <a:prstGeom prst="rect">
                <a:avLst/>
              </a:prstGeom>
              <a:blipFill>
                <a:blip r:embed="rId2"/>
                <a:stretch>
                  <a:fillRect l="-1214" t="-1316" r="-1214" b="-144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D71AB845-F266-23E1-F1D7-0EFE71DD4C5B}"/>
              </a:ext>
            </a:extLst>
          </p:cNvPr>
          <p:cNvGrpSpPr/>
          <p:nvPr/>
        </p:nvGrpSpPr>
        <p:grpSpPr>
          <a:xfrm>
            <a:off x="6026948" y="3429000"/>
            <a:ext cx="6326756" cy="3260500"/>
            <a:chOff x="2548217" y="4428459"/>
            <a:chExt cx="3390900" cy="348748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7F37B19-5747-B784-4975-9ED698927F08}"/>
                </a:ext>
              </a:extLst>
            </p:cNvPr>
            <p:cNvSpPr/>
            <p:nvPr/>
          </p:nvSpPr>
          <p:spPr>
            <a:xfrm>
              <a:off x="2699809" y="5823217"/>
              <a:ext cx="3087716" cy="697964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60C04050-B550-388A-264A-88B9167CE58D}"/>
                </a:ext>
              </a:extLst>
            </p:cNvPr>
            <p:cNvSpPr txBox="1">
              <a:spLocks/>
            </p:cNvSpPr>
            <p:nvPr/>
          </p:nvSpPr>
          <p:spPr>
            <a:xfrm>
              <a:off x="2548217" y="4428459"/>
              <a:ext cx="3390900" cy="348748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 cap="all" spc="300" baseline="0">
                  <a:solidFill>
                    <a:schemeClr val="tx2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000" dirty="0"/>
                <a:t>Limit definition of a derivative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00623077"/>
      </p:ext>
    </p:extLst>
  </p:cSld>
  <p:clrMapOvr>
    <a:masterClrMapping/>
  </p:clrMapOvr>
</p:sld>
</file>

<file path=ppt/theme/theme1.xml><?xml version="1.0" encoding="utf-8"?>
<a:theme xmlns:a="http://schemas.openxmlformats.org/drawingml/2006/main" name="ClassicFrameVTI">
  <a:themeElements>
    <a:clrScheme name="Custom 22">
      <a:dk1>
        <a:sysClr val="windowText" lastClr="000000"/>
      </a:dk1>
      <a:lt1>
        <a:sysClr val="window" lastClr="FFFFFF"/>
      </a:lt1>
      <a:dk2>
        <a:srgbClr val="293737"/>
      </a:dk2>
      <a:lt2>
        <a:srgbClr val="EEF2F0"/>
      </a:lt2>
      <a:accent1>
        <a:srgbClr val="749090"/>
      </a:accent1>
      <a:accent2>
        <a:srgbClr val="A5A5A5"/>
      </a:accent2>
      <a:accent3>
        <a:srgbClr val="91A39B"/>
      </a:accent3>
      <a:accent4>
        <a:srgbClr val="A9A698"/>
      </a:accent4>
      <a:accent5>
        <a:srgbClr val="A2A79A"/>
      </a:accent5>
      <a:accent6>
        <a:srgbClr val="897F65"/>
      </a:accent6>
      <a:hlink>
        <a:srgbClr val="92872F"/>
      </a:hlink>
      <a:folHlink>
        <a:srgbClr val="AB73A9"/>
      </a:folHlink>
    </a:clrScheme>
    <a:fontScheme name="Goudy and Gill Sans">
      <a:majorFont>
        <a:latin typeface="Goudy Old Style"/>
        <a:ea typeface=""/>
        <a:cs typeface=""/>
      </a:majorFont>
      <a:minorFont>
        <a:latin typeface="Gill Sans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lassicFrameVTI" id="{4FA2A165-EC65-4FB0-B019-8C8876A1D8E3}" vid="{9D78F1F1-8226-42FD-A1A3-975EDF6D60F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4384</TotalTime>
  <Words>344</Words>
  <Application>Microsoft Macintosh PowerPoint</Application>
  <PresentationFormat>Widescreen</PresentationFormat>
  <Paragraphs>30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Cambria Math</vt:lpstr>
      <vt:lpstr>Gill Sans MT</vt:lpstr>
      <vt:lpstr>Goudy Old Style</vt:lpstr>
      <vt:lpstr>ClassicFrameVTI</vt:lpstr>
      <vt:lpstr>Local Linearity! Calculus 1: intro to derivatives</vt:lpstr>
      <vt:lpstr>Learning Targets</vt:lpstr>
      <vt:lpstr>The main idea:</vt:lpstr>
      <vt:lpstr>Activity “SOLUTION KEY”:</vt:lpstr>
      <vt:lpstr>Connections to math-534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Gonzalez, David</dc:creator>
  <cp:lastModifiedBy>Gonzalez, David</cp:lastModifiedBy>
  <cp:revision>5</cp:revision>
  <dcterms:created xsi:type="dcterms:W3CDTF">2026-04-02T16:17:06Z</dcterms:created>
  <dcterms:modified xsi:type="dcterms:W3CDTF">2026-04-14T22:51:09Z</dcterms:modified>
</cp:coreProperties>
</file>